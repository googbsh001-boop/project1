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세력별 투찰성향 분석 보고서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24년도 이후 입찰결과 데이터 기반</a:t>
            </a:r>
          </a:p>
          <a:p>
            <a:r>
              <a:t>분석 대상: 총 27개 주요 업체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[결론] 세력별 투찰성향 요약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■ 분석 대상: 24년도 이후 입찰결과(xlsb, xlsx) 파일 전체 대상</a:t>
            </a:r>
          </a:p>
          <a:p>
            <a:pPr>
              <a:defRPr b="1"/>
            </a:pPr>
            <a:r>
              <a:t>■ 원숭이(하늘) 및 개(그린) 세력: [저가, 공격적 성향]</a:t>
            </a:r>
          </a:p>
          <a:p>
            <a:pPr lvl="1"/>
            <a:r>
              <a:t>- 85%~87%대 중후반의 매우 낮은 평균 투찰률(기초대비)을 형성</a:t>
            </a:r>
          </a:p>
          <a:p>
            <a:pPr lvl="1"/>
            <a:r>
              <a:t>- 대표 업체: 동부건설(85.8%), 대우건설(87.0%), 계룡건설산업(87.1%) 등</a:t>
            </a:r>
          </a:p>
          <a:p>
            <a:pPr>
              <a:defRPr b="1"/>
            </a:pPr>
            <a:r>
              <a:t>■ 우리(주황) 및 무소속(흰색) 세력: [보수적, 안정적 성향]</a:t>
            </a:r>
          </a:p>
          <a:p>
            <a:pPr lvl="1"/>
            <a:r>
              <a:t>- 88%~93% 이상의 비교적 높은 투찰률을 보이며 출혈 경쟁 지양</a:t>
            </a:r>
          </a:p>
          <a:p>
            <a:pPr lvl="1"/>
            <a:r>
              <a:t>- 수익성 중시, 리스크 회피 기조가 강함</a:t>
            </a:r>
          </a:p>
          <a:p>
            <a:pPr lvl="1"/>
            <a:r>
              <a:t>- 대표 업체: 한화(93.5%), 대보건설(93.3%), 호반산업(93.0%) 등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📊 세력별 평균 투찰률(%) 상세 시각화 자료</a:t>
            </a:r>
          </a:p>
        </p:txBody>
      </p:sp>
      <p:pic>
        <p:nvPicPr>
          <p:cNvPr id="3" name="Picture 2" descr="faction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45920"/>
            <a:ext cx="82296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💡 분석 결과에 따른 시사점 및 전략 제언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■ 적자 수주 가능성 등 리스크 관리</a:t>
            </a:r>
          </a:p>
          <a:p>
            <a:pPr lvl="1"/>
            <a:r>
              <a:t>- 막연히 최저가를 추종할 경우 이익 훼손 소지가 큼</a:t>
            </a:r>
          </a:p>
          <a:p>
            <a:pPr/>
            <a:r>
              <a:t>■ 경쟁사 맞춤형(Targeting) 입찰 전략 수립 제안</a:t>
            </a:r>
          </a:p>
          <a:p>
            <a:pPr lvl="1"/>
            <a:r>
              <a:t>1. 초공격적 성향의 업체 포진 시 (원숭이/개 세력 주도)</a:t>
            </a:r>
          </a:p>
          <a:p>
            <a:pPr lvl="2"/>
            <a:r>
              <a:t>▶ 이전 '1순위 시뮬레이션' 등의 모델을 활용하여 [한계 원가 분석을 통한 최대한의 공격적 밴드]로 하향 조정 투찰</a:t>
            </a:r>
          </a:p>
          <a:p>
            <a:pPr lvl="1"/>
            <a:r>
              <a:t>2. 보수적 성향의 업체 포진 시 (무소속 주도)</a:t>
            </a:r>
          </a:p>
          <a:p>
            <a:pPr lvl="2"/>
            <a:r>
              <a:t>▶ 맹목적인 가격 출혈을 멈추고 [충분한 마진을 남길 수 있는 안정적 상향 투찰]로 수익성 극대화 모색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