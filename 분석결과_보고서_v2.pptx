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000" b="1">
                <a:latin typeface="Malgun Gothic"/>
              </a:defRPr>
            </a:pPr>
            <a:r>
              <a:t>세력별 투찰성향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latin typeface="Malgun Gothic"/>
              </a:defRPr>
            </a:pPr>
            <a:r>
              <a:t>24년도 이후 입찰결과 데이터 기반</a:t>
            </a:r>
          </a:p>
          <a:p>
            <a:pPr>
              <a:defRPr sz="2800">
                <a:latin typeface="Malgun Gothic"/>
              </a:defRPr>
            </a:pPr>
            <a:r>
              <a:t>분석 대상: 총 27개 주요 업체 및 개별 현장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[결론] 세력별 투찰성향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0" sz="2600">
                <a:latin typeface="Malgun Gothic"/>
              </a:defRPr>
            </a:pPr>
            <a:r>
              <a:t>■ 분석 대상: 24년도 이후 입찰결과(xlsb, xlsx) 파일 전체 대상</a:t>
            </a:r>
          </a:p>
          <a:p>
            <a:pPr>
              <a:defRPr b="1" sz="2600">
                <a:latin typeface="Malgun Gothic"/>
              </a:defRPr>
            </a:pPr>
            <a:r>
              <a:t>■ 원숭이(하늘) 및 개(그린) 세력: [저가, 공격적 성향]</a:t>
            </a:r>
          </a:p>
          <a:p>
            <a:pPr lvl="1">
              <a:defRPr b="0" sz="2200">
                <a:latin typeface="Malgun Gothic"/>
              </a:defRPr>
            </a:pPr>
            <a:r>
              <a:t>- 85%~87%대 중후반의 매우 낮은 평균 투찰률(기초대비)을 형성</a:t>
            </a:r>
          </a:p>
          <a:p>
            <a:pPr lvl="1">
              <a:defRPr b="0" sz="2200">
                <a:latin typeface="Malgun Gothic"/>
              </a:defRPr>
            </a:pPr>
            <a:r>
              <a:t>- 대표 업체: 동부건설(85.8%), 대우건설(87.0%), 계룡건설산업(87.1%) 등</a:t>
            </a:r>
          </a:p>
          <a:p>
            <a:pPr>
              <a:defRPr b="1" sz="2600">
                <a:latin typeface="Malgun Gothic"/>
              </a:defRPr>
            </a:pPr>
            <a:r>
              <a:t>■ 우리(주황) 및 무소속(흰색) 세력: [보수적, 안정적 성향]</a:t>
            </a:r>
          </a:p>
          <a:p>
            <a:pPr lvl="1">
              <a:defRPr b="0" sz="2200">
                <a:latin typeface="Malgun Gothic"/>
              </a:defRPr>
            </a:pPr>
            <a:r>
              <a:t>- 88%~93% 이상의 비교적 높은 투찰률을 보이며 출혈 경쟁 지양</a:t>
            </a:r>
          </a:p>
          <a:p>
            <a:pPr lvl="1">
              <a:defRPr b="0" sz="2200">
                <a:latin typeface="Malgun Gothic"/>
              </a:defRPr>
            </a:pPr>
            <a:r>
              <a:t>- 수익성 중시, 리스크 회피 기조가 강함</a:t>
            </a:r>
          </a:p>
          <a:p>
            <a:pPr lvl="1">
              <a:defRPr b="0" sz="2200">
                <a:latin typeface="Malgun Gothic"/>
              </a:defRPr>
            </a:pPr>
            <a:r>
              <a:t>- 대표 업체: 한화(93.5%), 대보건설(93.3%), 호반산업(93.0%) 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📊 세력별 평균 투찰률(%) 분석 (그룹 막대그래프)</a:t>
            </a:r>
          </a:p>
        </p:txBody>
      </p:sp>
      <p:pic>
        <p:nvPicPr>
          <p:cNvPr id="3" name="Picture 2" descr="faction_chart_grou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🏗️ 주요 현장별/세력별 투찰 성향 비교</a:t>
            </a:r>
          </a:p>
        </p:txBody>
      </p:sp>
      <p:pic>
        <p:nvPicPr>
          <p:cNvPr id="3" name="Picture 2" descr="sit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10360152" cy="518007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algun Gothic"/>
              </a:defRPr>
            </a:pPr>
            <a:r>
              <a:t>💡 현장/경쟁사 맞춤형 전략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600">
                <a:latin typeface="Malgun Gothic"/>
              </a:defRPr>
            </a:pPr>
            <a:r>
              <a:t>■ 적자 수주 가능성 등 리스크 관리</a:t>
            </a:r>
          </a:p>
          <a:p>
            <a:pPr lvl="1">
              <a:defRPr b="0" sz="2200">
                <a:latin typeface="Malgun Gothic"/>
              </a:defRPr>
            </a:pPr>
            <a:r>
              <a:t>- 막연히 최저가를 추종할 경우 이익 훼손 소지가 큼</a:t>
            </a:r>
          </a:p>
          <a:p>
            <a:pPr>
              <a:defRPr b="1" sz="2600">
                <a:latin typeface="Malgun Gothic"/>
              </a:defRPr>
            </a:pPr>
            <a:r>
              <a:t>■ 경쟁사 맞춤형(Targeting) 입찰 전략 수립 제안</a:t>
            </a:r>
          </a:p>
          <a:p>
            <a:pPr lvl="1">
              <a:defRPr b="0" sz="2400">
                <a:latin typeface="Malgun Gothic"/>
              </a:defRPr>
            </a:pPr>
            <a:r>
              <a:t>1. 초공격적 성향의 업체 포진 시 (원숭이/개 세력 주도)</a:t>
            </a:r>
          </a:p>
          <a:p>
            <a:pPr lvl="2">
              <a:defRPr b="0" sz="2000">
                <a:latin typeface="Malgun Gothic"/>
              </a:defRPr>
            </a:pPr>
            <a:r>
              <a:t>▶ 이전 시뮬레이션 모델을 활용하여 [한계 원가 기반 최대한의 공격적 밴드]로 하향 조정 투찰</a:t>
            </a:r>
          </a:p>
          <a:p>
            <a:pPr lvl="1">
              <a:defRPr b="0" sz="2400">
                <a:latin typeface="Malgun Gothic"/>
              </a:defRPr>
            </a:pPr>
            <a:r>
              <a:t>2. 보수적 성향의 업체 포진 시 (무소속 주도)</a:t>
            </a:r>
          </a:p>
          <a:p>
            <a:pPr lvl="2">
              <a:defRPr b="0" sz="2000">
                <a:latin typeface="Malgun Gothic"/>
              </a:defRPr>
            </a:pPr>
            <a:r>
              <a:t>▶ 맹목적인 가격 출혈을 멈추고 [적정 마진을 남길 수 있는 안정적 상향 투찰]로 수익성 극대화 모색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